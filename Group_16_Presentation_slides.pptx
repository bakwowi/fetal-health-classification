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0" r:id="rId18"/>
    <p:sldId id="275" r:id="rId19"/>
    <p:sldId id="271" r:id="rId20"/>
    <p:sldId id="272" r:id="rId21"/>
  </p:sldIdLst>
  <p:sldSz cx="9144000" cy="5143500" type="screen16x9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BE8F9"/>
    <a:srgbClr val="BED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784D7-133C-4B04-AEC7-DA120B036AC8}" type="datetimeFigureOut">
              <a:rPr lang="en-DE" smtClean="0"/>
              <a:t>08/07/2026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8F252-9A85-473A-9528-202E30DB7AA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477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8F252-9A85-473A-9528-202E30DB7AAA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953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0" y="-40320"/>
            <a:ext cx="9143640" cy="52236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48880" y="1661760"/>
            <a:ext cx="5348520" cy="237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2;p21"/>
          <p:cNvPicPr/>
          <p:nvPr/>
        </p:nvPicPr>
        <p:blipFill>
          <a:blip r:embed="rId2">
            <a:alphaModFix amt="70000"/>
          </a:blip>
          <a:stretch/>
        </p:blipFill>
        <p:spPr>
          <a:xfrm flipH="1">
            <a:off x="360" y="0"/>
            <a:ext cx="9143640" cy="52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57240" y="488520"/>
            <a:ext cx="5429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Google Shape;105;p21"/>
          <p:cNvSpPr/>
          <p:nvPr/>
        </p:nvSpPr>
        <p:spPr>
          <a:xfrm>
            <a:off x="1989000" y="3430800"/>
            <a:ext cx="516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8;p4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0" y="0"/>
            <a:ext cx="9143640" cy="52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4960" y="534960"/>
            <a:ext cx="4184280" cy="108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4960" y="1738080"/>
            <a:ext cx="4184280" cy="286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9;p6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0" y="-29520"/>
            <a:ext cx="9143640" cy="525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2/1520-6661(200009/10)9:5%3C311::AID-MFM12%3E3.0.CO;2-9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CD58B-9DF9-048F-8EA6-104BC8AF6E7D}"/>
              </a:ext>
            </a:extLst>
          </p:cNvPr>
          <p:cNvSpPr txBox="1"/>
          <p:nvPr/>
        </p:nvSpPr>
        <p:spPr>
          <a:xfrm>
            <a:off x="514439" y="1175823"/>
            <a:ext cx="5071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Fetal Health Classification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46175-3B6E-CD18-3DCD-400F985D843E}"/>
              </a:ext>
            </a:extLst>
          </p:cNvPr>
          <p:cNvSpPr txBox="1"/>
          <p:nvPr/>
        </p:nvSpPr>
        <p:spPr>
          <a:xfrm>
            <a:off x="514439" y="2780696"/>
            <a:ext cx="4629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Evaluation Project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B4C07-1163-2ABC-8302-7E8CE6851A33}"/>
              </a:ext>
            </a:extLst>
          </p:cNvPr>
          <p:cNvSpPr txBox="1"/>
          <p:nvPr/>
        </p:nvSpPr>
        <p:spPr>
          <a:xfrm>
            <a:off x="514439" y="3336791"/>
            <a:ext cx="446141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16: Junior Nfor &amp; Bakwowi Junior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Deggendorf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Summer Semester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DABBF4-5F3E-6591-24FF-5C3BD9225D04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06641-C0BD-3A28-01AB-FF14A98B44A5}"/>
              </a:ext>
            </a:extLst>
          </p:cNvPr>
          <p:cNvSpPr txBox="1"/>
          <p:nvPr/>
        </p:nvSpPr>
        <p:spPr>
          <a:xfrm>
            <a:off x="497984" y="396114"/>
            <a:ext cx="171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15A92-A72E-1759-3706-D131CB11E660}"/>
              </a:ext>
            </a:extLst>
          </p:cNvPr>
          <p:cNvSpPr txBox="1"/>
          <p:nvPr/>
        </p:nvSpPr>
        <p:spPr>
          <a:xfrm>
            <a:off x="497984" y="857779"/>
            <a:ext cx="512364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Cardiotocography (CTG)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records 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fetal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heart rate and uterine contractions during pregnancy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the standard, low-cost, non-invasive tool obstetricians use to monitor 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fetal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wellbeing in real time.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correctly separating Normal from Suspect and Pathological patterns matters clinically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missed distress signals can lead to preventable stillbirth or birth injury, while false alarms drive unnecessary interventions such as emergency C-sections.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CTG traces are still interpreted manually today, and inter-clinician agreement is known to be limited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creating a natural opening for a consistent, data-driven decision-support classifier.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21 diagnostic features automatically extracted from a CTG recording, predict whether the 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fetal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 is Normal, Suspect, or Pathological.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dataset is imbalanced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most recordings are Normal, making standard accuracy a misleading metric.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5663B4-E2D9-2029-3945-2ABD6AEEC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95" y="873073"/>
            <a:ext cx="2781838" cy="3911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E43F2-E6CD-25D3-4991-FCA8910CF362}"/>
              </a:ext>
            </a:extLst>
          </p:cNvPr>
          <p:cNvSpPr txBox="1"/>
          <p:nvPr/>
        </p:nvSpPr>
        <p:spPr>
          <a:xfrm>
            <a:off x="8453190" y="4866501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F2C35-4BBB-B356-5ADC-D512B0344884}"/>
              </a:ext>
            </a:extLst>
          </p:cNvPr>
          <p:cNvSpPr txBox="1"/>
          <p:nvPr/>
        </p:nvSpPr>
        <p:spPr>
          <a:xfrm>
            <a:off x="497984" y="396114"/>
            <a:ext cx="24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- Overview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769D5-EF06-BE9B-7974-B98E8DACE004}"/>
              </a:ext>
            </a:extLst>
          </p:cNvPr>
          <p:cNvSpPr txBox="1"/>
          <p:nvPr/>
        </p:nvSpPr>
        <p:spPr>
          <a:xfrm>
            <a:off x="497984" y="1148544"/>
            <a:ext cx="420244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Fetal Health Dataset</a:t>
            </a:r>
          </a:p>
          <a:p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DE" sz="1050" dirty="0">
                <a:solidFill>
                  <a:schemeClr val="bg1"/>
                </a:solidFill>
              </a:rPr>
              <a:t>Ayres-de-Campos, D., Bernardes, J., Garrido, A., Marques-de-Sá, J. and Pereira-Leite, L. (2000), </a:t>
            </a:r>
            <a:r>
              <a:rPr lang="en-DE" sz="1050" dirty="0" err="1">
                <a:solidFill>
                  <a:schemeClr val="bg1"/>
                </a:solidFill>
              </a:rPr>
              <a:t>Sisporto</a:t>
            </a:r>
            <a:r>
              <a:rPr lang="en-DE" sz="1050" dirty="0">
                <a:solidFill>
                  <a:schemeClr val="bg1"/>
                </a:solidFill>
              </a:rPr>
              <a:t> 2.0: A program for automated analysis of </a:t>
            </a:r>
            <a:r>
              <a:rPr lang="en-DE" sz="1050" dirty="0" err="1">
                <a:solidFill>
                  <a:schemeClr val="bg1"/>
                </a:solidFill>
              </a:rPr>
              <a:t>cardiotocograms</a:t>
            </a:r>
            <a:r>
              <a:rPr lang="en-DE" sz="1050" dirty="0">
                <a:solidFill>
                  <a:schemeClr val="bg1"/>
                </a:solidFill>
              </a:rPr>
              <a:t>. J. Matern. </a:t>
            </a:r>
            <a:r>
              <a:rPr lang="en-DE" sz="1050" dirty="0" err="1">
                <a:solidFill>
                  <a:schemeClr val="bg1"/>
                </a:solidFill>
              </a:rPr>
              <a:t>Fetal</a:t>
            </a:r>
            <a:r>
              <a:rPr lang="en-DE" sz="1050" dirty="0">
                <a:solidFill>
                  <a:schemeClr val="bg1"/>
                </a:solidFill>
              </a:rPr>
              <a:t> Med., 9: 311-318. </a:t>
            </a:r>
            <a:r>
              <a:rPr lang="en-DE" sz="105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https://doi.org/10.1002/1520-6661(200009/10)9:5&lt;311::AID-MFM12&gt;3.0.CO;2-9</a:t>
            </a:r>
            <a:endParaRPr lang="en-US" sz="10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2,126 CTG (</a:t>
            </a:r>
            <a:r>
              <a:rPr lang="en-US" sz="16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Cardiotogram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recordings</a:t>
            </a:r>
          </a:p>
          <a:p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(signal + histogram statistics)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Classes: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values: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duplicate rows: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</a:p>
          <a:p>
            <a:endParaRPr lang="en-DE" b="1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D41FDD-92AC-FFB9-6810-84DB01A16E7B}"/>
              </a:ext>
            </a:extLst>
          </p:cNvPr>
          <p:cNvSpPr/>
          <p:nvPr/>
        </p:nvSpPr>
        <p:spPr>
          <a:xfrm>
            <a:off x="4784503" y="857779"/>
            <a:ext cx="3767428" cy="3643386"/>
          </a:xfrm>
          <a:prstGeom prst="roundRect">
            <a:avLst/>
          </a:prstGeom>
          <a:solidFill>
            <a:srgbClr val="BED8F6">
              <a:alpha val="12157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037C3-C7FA-2735-069A-B5F59618A8AD}"/>
              </a:ext>
            </a:extLst>
          </p:cNvPr>
          <p:cNvSpPr txBox="1"/>
          <p:nvPr/>
        </p:nvSpPr>
        <p:spPr>
          <a:xfrm>
            <a:off x="5106116" y="1202144"/>
            <a:ext cx="336174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groups:</a:t>
            </a: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FHR (Fetal Heart Rate) baseline, accelerations, fetal movement, uterine contractions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Decelerations: light / severe /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prolongued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 variability measures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FHR (Fetal Heart Rate) histogram statistics (width, min/max, mode, mean, median, variance…)</a:t>
            </a:r>
          </a:p>
          <a:p>
            <a:pPr>
              <a:spcAft>
                <a:spcPts val="6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feature → </a:t>
            </a:r>
            <a:r>
              <a:rPr lang="en-GB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fetal_health</a:t>
            </a:r>
            <a:endParaRPr lang="en-GB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→ Normal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→ Suspect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→ Pathological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BF02C-6F87-26A4-1E77-CD25204D6F4C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328868-FA43-A12C-F375-223C776140DB}"/>
              </a:ext>
            </a:extLst>
          </p:cNvPr>
          <p:cNvSpPr txBox="1"/>
          <p:nvPr/>
        </p:nvSpPr>
        <p:spPr>
          <a:xfrm>
            <a:off x="497984" y="396114"/>
            <a:ext cx="2124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- Sample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73EFA9-6166-AC71-8ED8-1626B1C68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50584"/>
              </p:ext>
            </p:extLst>
          </p:nvPr>
        </p:nvGraphicFramePr>
        <p:xfrm>
          <a:off x="876301" y="1283336"/>
          <a:ext cx="7391398" cy="279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271">
                  <a:extLst>
                    <a:ext uri="{9D8B030D-6E8A-4147-A177-3AD203B41FA5}">
                      <a16:colId xmlns:a16="http://schemas.microsoft.com/office/drawing/2014/main" val="3293278667"/>
                    </a:ext>
                  </a:extLst>
                </a:gridCol>
                <a:gridCol w="1184856">
                  <a:extLst>
                    <a:ext uri="{9D8B030D-6E8A-4147-A177-3AD203B41FA5}">
                      <a16:colId xmlns:a16="http://schemas.microsoft.com/office/drawing/2014/main" val="803615250"/>
                    </a:ext>
                  </a:extLst>
                </a:gridCol>
                <a:gridCol w="1191296">
                  <a:extLst>
                    <a:ext uri="{9D8B030D-6E8A-4147-A177-3AD203B41FA5}">
                      <a16:colId xmlns:a16="http://schemas.microsoft.com/office/drawing/2014/main" val="808656627"/>
                    </a:ext>
                  </a:extLst>
                </a:gridCol>
                <a:gridCol w="1017431">
                  <a:extLst>
                    <a:ext uri="{9D8B030D-6E8A-4147-A177-3AD203B41FA5}">
                      <a16:colId xmlns:a16="http://schemas.microsoft.com/office/drawing/2014/main" val="537627607"/>
                    </a:ext>
                  </a:extLst>
                </a:gridCol>
                <a:gridCol w="1435994">
                  <a:extLst>
                    <a:ext uri="{9D8B030D-6E8A-4147-A177-3AD203B41FA5}">
                      <a16:colId xmlns:a16="http://schemas.microsoft.com/office/drawing/2014/main" val="3771350465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2846337133"/>
                    </a:ext>
                  </a:extLst>
                </a:gridCol>
                <a:gridCol w="636967">
                  <a:extLst>
                    <a:ext uri="{9D8B030D-6E8A-4147-A177-3AD203B41FA5}">
                      <a16:colId xmlns:a16="http://schemas.microsoft.com/office/drawing/2014/main" val="9810327"/>
                    </a:ext>
                  </a:extLst>
                </a:gridCol>
              </a:tblGrid>
              <a:tr h="424558">
                <a:tc>
                  <a:txBody>
                    <a:bodyPr/>
                    <a:lstStyle/>
                    <a:p>
                      <a:pPr algn="ctr"/>
                      <a:r>
                        <a:rPr lang="en-DE" sz="1200" dirty="0"/>
                        <a:t>baseline value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/>
                        <a:t>accelerations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 err="1"/>
                        <a:t>prolongued_decelerations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 err="1"/>
                        <a:t>abnormal_short_term_variability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 err="1"/>
                        <a:t>mean_value_of_short_term_variability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 err="1"/>
                        <a:t>histogram_mean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200" dirty="0" err="1"/>
                        <a:t>fetal_health</a:t>
                      </a:r>
                      <a:endParaRPr lang="en-DE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2117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938831"/>
                  </a:ext>
                </a:extLst>
              </a:tr>
              <a:tr h="430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73.0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709329"/>
                  </a:ext>
                </a:extLst>
              </a:tr>
              <a:tr h="430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132.0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0.006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032002"/>
                  </a:ext>
                </a:extLst>
              </a:tr>
              <a:tr h="430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133.0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135.0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671003"/>
                  </a:ext>
                </a:extLst>
              </a:tr>
              <a:tr h="430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47030"/>
                  </a:ext>
                </a:extLst>
              </a:tr>
              <a:tr h="430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107.0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8F9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235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4D2CF7-B5FE-6D90-EE34-92B052975144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D5CF6-B62C-39E4-AA44-ABD9B82B8E4D}"/>
              </a:ext>
            </a:extLst>
          </p:cNvPr>
          <p:cNvSpPr txBox="1"/>
          <p:nvPr/>
        </p:nvSpPr>
        <p:spPr>
          <a:xfrm>
            <a:off x="497984" y="396114"/>
            <a:ext cx="3658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– Class Distribution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DB93A-F461-7A57-C9C4-8A31456AE3FD}"/>
              </a:ext>
            </a:extLst>
          </p:cNvPr>
          <p:cNvSpPr txBox="1"/>
          <p:nvPr/>
        </p:nvSpPr>
        <p:spPr>
          <a:xfrm>
            <a:off x="497984" y="1022420"/>
            <a:ext cx="277968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is significantly imbalanced. Most recordings are Normal.</a:t>
            </a: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Directly motivates macro-F1 as the evaluation metric. Accuracy alone is misleading.</a:t>
            </a: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stratified train/test split ensures both sets preserve the original class proportions.</a:t>
            </a:r>
          </a:p>
          <a:p>
            <a:pPr>
              <a:buSzPct val="100000"/>
            </a:pPr>
            <a:endParaRPr lang="en-US" sz="14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Oversampling minority classes was assessed to counteract the heavy dominant class bias.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07000-455A-C3F9-5941-07D750E46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589" y="857779"/>
            <a:ext cx="4885479" cy="3829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FBFB1E-13FF-23F7-A456-7F4CA56BC99A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618D5E-203E-36FC-7893-81F1589A5138}"/>
              </a:ext>
            </a:extLst>
          </p:cNvPr>
          <p:cNvSpPr txBox="1"/>
          <p:nvPr/>
        </p:nvSpPr>
        <p:spPr>
          <a:xfrm>
            <a:off x="497984" y="232229"/>
            <a:ext cx="7123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– Feature Exploration and Class Separability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29D559C-D4DA-F937-537C-A6826DF416D5}"/>
              </a:ext>
            </a:extLst>
          </p:cNvPr>
          <p:cNvSpPr/>
          <p:nvPr/>
        </p:nvSpPr>
        <p:spPr>
          <a:xfrm>
            <a:off x="497984" y="624626"/>
            <a:ext cx="8412480" cy="611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cases are clearly separated in most features.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Suspect class overlaps heavily with Normal in several features; The main source of classification difficulty.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5092E-CB44-6B2B-E253-2EC104A68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245" y="1236372"/>
            <a:ext cx="5539893" cy="3867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D82EBA-8DA8-5B3C-14C3-9859A18F226E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5BE9A-E9F1-5A08-238D-9CFA7B4F1685}"/>
              </a:ext>
            </a:extLst>
          </p:cNvPr>
          <p:cNvSpPr txBox="1"/>
          <p:nvPr/>
        </p:nvSpPr>
        <p:spPr>
          <a:xfrm>
            <a:off x="497984" y="396114"/>
            <a:ext cx="5063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– Feature-Target Correlations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F4E26-813E-2C10-8A12-E2FA33FAFA16}"/>
              </a:ext>
            </a:extLst>
          </p:cNvPr>
          <p:cNvSpPr txBox="1"/>
          <p:nvPr/>
        </p:nvSpPr>
        <p:spPr>
          <a:xfrm>
            <a:off x="497984" y="972372"/>
            <a:ext cx="5982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 features have low correlation → motivates feature selection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4D657-B469-D8FD-5AE6-2636BCA82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84" y="1367895"/>
            <a:ext cx="7918360" cy="3672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B21A2F-417D-89AA-9824-E36F29BBEE6A}"/>
              </a:ext>
            </a:extLst>
          </p:cNvPr>
          <p:cNvSpPr txBox="1"/>
          <p:nvPr/>
        </p:nvSpPr>
        <p:spPr>
          <a:xfrm>
            <a:off x="8416344" y="4835723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E057B-EF29-1090-C4F9-FFBA065DBF34}"/>
              </a:ext>
            </a:extLst>
          </p:cNvPr>
          <p:cNvSpPr txBox="1"/>
          <p:nvPr/>
        </p:nvSpPr>
        <p:spPr>
          <a:xfrm>
            <a:off x="497984" y="396114"/>
            <a:ext cx="4570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Method – Pipeline Architecture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4D38874-1D32-A6A8-ACF0-435F7AAEC52E}"/>
              </a:ext>
            </a:extLst>
          </p:cNvPr>
          <p:cNvSpPr/>
          <p:nvPr/>
        </p:nvSpPr>
        <p:spPr>
          <a:xfrm>
            <a:off x="497984" y="1367994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1134E05-AEC3-B39B-0726-CC0BD8889329}"/>
              </a:ext>
            </a:extLst>
          </p:cNvPr>
          <p:cNvSpPr/>
          <p:nvPr/>
        </p:nvSpPr>
        <p:spPr>
          <a:xfrm>
            <a:off x="497984" y="136799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b="1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1544F4E-1C29-2D42-920A-7745197B7493}"/>
              </a:ext>
            </a:extLst>
          </p:cNvPr>
          <p:cNvSpPr/>
          <p:nvPr/>
        </p:nvSpPr>
        <p:spPr>
          <a:xfrm>
            <a:off x="1961024" y="154173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b="1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9540DA1-B106-EA73-B894-D87D21655FBE}"/>
              </a:ext>
            </a:extLst>
          </p:cNvPr>
          <p:cNvSpPr/>
          <p:nvPr/>
        </p:nvSpPr>
        <p:spPr>
          <a:xfrm>
            <a:off x="2162192" y="1367994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ED44F19-4460-BE48-1661-7D26942676CE}"/>
              </a:ext>
            </a:extLst>
          </p:cNvPr>
          <p:cNvSpPr/>
          <p:nvPr/>
        </p:nvSpPr>
        <p:spPr>
          <a:xfrm>
            <a:off x="2162192" y="136799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 80/20</a:t>
            </a:r>
            <a:endParaRPr lang="en-US" sz="1200" b="1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95A2408-4201-D264-7894-B264706D05C4}"/>
              </a:ext>
            </a:extLst>
          </p:cNvPr>
          <p:cNvSpPr/>
          <p:nvPr/>
        </p:nvSpPr>
        <p:spPr>
          <a:xfrm>
            <a:off x="3625232" y="154173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b="1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56AE641-EF4E-3F92-D764-10B393D7ED3B}"/>
              </a:ext>
            </a:extLst>
          </p:cNvPr>
          <p:cNvSpPr/>
          <p:nvPr/>
        </p:nvSpPr>
        <p:spPr>
          <a:xfrm>
            <a:off x="3826400" y="1367994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487D2FB-EC60-F8C3-FF1B-BE1845EDC27E}"/>
              </a:ext>
            </a:extLst>
          </p:cNvPr>
          <p:cNvSpPr/>
          <p:nvPr/>
        </p:nvSpPr>
        <p:spPr>
          <a:xfrm>
            <a:off x="3826400" y="136799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(StandardScaler)</a:t>
            </a:r>
            <a:endParaRPr lang="en-US" sz="1200" b="1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782383F-8BE1-E72D-D2D4-CAF6BA540D01}"/>
              </a:ext>
            </a:extLst>
          </p:cNvPr>
          <p:cNvSpPr/>
          <p:nvPr/>
        </p:nvSpPr>
        <p:spPr>
          <a:xfrm>
            <a:off x="5068081" y="2500001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A944E1F-00CC-2B74-7715-CE4F7899318F}"/>
              </a:ext>
            </a:extLst>
          </p:cNvPr>
          <p:cNvSpPr/>
          <p:nvPr/>
        </p:nvSpPr>
        <p:spPr>
          <a:xfrm>
            <a:off x="5068081" y="2500001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6717E3A-C6AB-9EA0-7494-D5B0B5505C92}"/>
              </a:ext>
            </a:extLst>
          </p:cNvPr>
          <p:cNvSpPr/>
          <p:nvPr/>
        </p:nvSpPr>
        <p:spPr>
          <a:xfrm>
            <a:off x="6531121" y="2673737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b="1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EB1813E-C050-9F1E-E48C-88629FC2F316}"/>
              </a:ext>
            </a:extLst>
          </p:cNvPr>
          <p:cNvSpPr/>
          <p:nvPr/>
        </p:nvSpPr>
        <p:spPr>
          <a:xfrm>
            <a:off x="6732289" y="2500001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0A27010-61C3-6C20-2701-CBEE055842E7}"/>
              </a:ext>
            </a:extLst>
          </p:cNvPr>
          <p:cNvSpPr/>
          <p:nvPr/>
        </p:nvSpPr>
        <p:spPr>
          <a:xfrm>
            <a:off x="6732289" y="2500001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200" b="1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4758BA8-CC58-5897-1F28-C4885B1C1356}"/>
              </a:ext>
            </a:extLst>
          </p:cNvPr>
          <p:cNvCxnSpPr>
            <a:cxnSpLocks/>
            <a:stCxn id="10" idx="2"/>
            <a:endCxn id="12" idx="1"/>
          </p:cNvCxnSpPr>
          <p:nvPr/>
        </p:nvCxnSpPr>
        <p:spPr>
          <a:xfrm rot="16200000" flipH="1">
            <a:off x="4402445" y="2145260"/>
            <a:ext cx="821111" cy="510161"/>
          </a:xfrm>
          <a:prstGeom prst="bentConnector2">
            <a:avLst/>
          </a:prstGeom>
          <a:ln w="12700">
            <a:solidFill>
              <a:schemeClr val="bg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1381571-E8D8-35EA-C9A6-4A94F65CB008}"/>
              </a:ext>
            </a:extLst>
          </p:cNvPr>
          <p:cNvSpPr txBox="1"/>
          <p:nvPr/>
        </p:nvSpPr>
        <p:spPr>
          <a:xfrm>
            <a:off x="497984" y="2948057"/>
            <a:ext cx="4226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 duplicates removed (Now 2113 samples).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features with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removal of outliers</a:t>
            </a:r>
            <a:endParaRPr lang="en-DE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1B7DD2FF-97AD-C202-4B2E-D8C6434F984E}"/>
              </a:ext>
            </a:extLst>
          </p:cNvPr>
          <p:cNvSpPr/>
          <p:nvPr/>
        </p:nvSpPr>
        <p:spPr>
          <a:xfrm>
            <a:off x="2873521" y="2152529"/>
            <a:ext cx="14630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chemeClr val="tx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68D9D93-A7BB-E1C5-FAED-06681CA94760}"/>
              </a:ext>
            </a:extLst>
          </p:cNvPr>
          <p:cNvSpPr/>
          <p:nvPr/>
        </p:nvSpPr>
        <p:spPr>
          <a:xfrm>
            <a:off x="2873521" y="2152529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8DC489-43C1-4077-A957-5ED665767714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4336561" y="2450633"/>
            <a:ext cx="221359" cy="12792"/>
          </a:xfrm>
          <a:prstGeom prst="straightConnector1">
            <a:avLst/>
          </a:prstGeom>
          <a:ln w="12700">
            <a:solidFill>
              <a:schemeClr val="bg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B0E69A-ED11-505C-3125-5C123F4D0E6C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58CA0-7BBB-69DD-3AD2-1D9B76E95D69}"/>
              </a:ext>
            </a:extLst>
          </p:cNvPr>
          <p:cNvSpPr txBox="1"/>
          <p:nvPr/>
        </p:nvSpPr>
        <p:spPr>
          <a:xfrm>
            <a:off x="497984" y="396114"/>
            <a:ext cx="5155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Method – Stratified Train/Test Split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BC5D7251-7AF9-12C8-F7FA-8AEE84519D55}"/>
              </a:ext>
            </a:extLst>
          </p:cNvPr>
          <p:cNvSpPr/>
          <p:nvPr/>
        </p:nvSpPr>
        <p:spPr>
          <a:xfrm>
            <a:off x="497984" y="762000"/>
            <a:ext cx="8412480" cy="1089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ratio: 80% training (1690 samples)  ·  20% test (423 samples).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target class. Class proportions are preserved in both sets.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is touched exactly once which is after all tuning is complete.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45732-4212-5F99-3BCE-97B019CF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21" y="1689378"/>
            <a:ext cx="4917224" cy="34541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C76ADD-708A-05CC-04B7-C8C47EAC9728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09/20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3BE7FD-B4A6-8875-8EBF-7AE80E9D2E4D}"/>
              </a:ext>
            </a:extLst>
          </p:cNvPr>
          <p:cNvSpPr txBox="1"/>
          <p:nvPr/>
        </p:nvSpPr>
        <p:spPr>
          <a:xfrm>
            <a:off x="497984" y="396114"/>
            <a:ext cx="4260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Method – Classifiers Selected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EAB661-D4ED-C424-CC9C-A6B6DF6CBFA1}"/>
              </a:ext>
            </a:extLst>
          </p:cNvPr>
          <p:cNvSpPr/>
          <p:nvPr/>
        </p:nvSpPr>
        <p:spPr>
          <a:xfrm>
            <a:off x="335280" y="975359"/>
            <a:ext cx="4061460" cy="2512427"/>
          </a:xfrm>
          <a:prstGeom prst="roundRect">
            <a:avLst/>
          </a:prstGeom>
          <a:solidFill>
            <a:srgbClr val="DBE8F9">
              <a:alpha val="20000"/>
            </a:srgbClr>
          </a:solidFill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F2E135-72E2-7C0B-5AAA-67C5C8B0C118}"/>
              </a:ext>
            </a:extLst>
          </p:cNvPr>
          <p:cNvSpPr/>
          <p:nvPr/>
        </p:nvSpPr>
        <p:spPr>
          <a:xfrm>
            <a:off x="4567925" y="975360"/>
            <a:ext cx="4061460" cy="3535680"/>
          </a:xfrm>
          <a:prstGeom prst="roundRect">
            <a:avLst/>
          </a:prstGeom>
          <a:solidFill>
            <a:srgbClr val="DBE8F9">
              <a:alpha val="20000"/>
            </a:srgbClr>
          </a:solidFill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D853E-8EC1-02B1-FBC8-BAA6970A0E52}"/>
              </a:ext>
            </a:extLst>
          </p:cNvPr>
          <p:cNvSpPr txBox="1"/>
          <p:nvPr/>
        </p:nvSpPr>
        <p:spPr>
          <a:xfrm>
            <a:off x="575310" y="1179463"/>
            <a:ext cx="3821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Base Classifiers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400" b="1" dirty="0">
                <a:solidFill>
                  <a:schemeClr val="bg1"/>
                </a:solidFill>
              </a:rPr>
              <a:t>KNN (</a:t>
            </a:r>
            <a:r>
              <a:rPr lang="en-GB" sz="1400" b="1" dirty="0" err="1">
                <a:solidFill>
                  <a:schemeClr val="bg1"/>
                </a:solidFill>
              </a:rPr>
              <a:t>KNearestNeighbours</a:t>
            </a:r>
            <a:r>
              <a:rPr lang="en-GB" sz="1400" b="1" dirty="0">
                <a:solidFill>
                  <a:schemeClr val="bg1"/>
                </a:solidFill>
              </a:rPr>
              <a:t>):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Tunned Hyperparameter: </a:t>
            </a:r>
            <a:r>
              <a:rPr lang="en-GB" sz="1400" dirty="0" err="1">
                <a:solidFill>
                  <a:schemeClr val="bg1"/>
                </a:solidFill>
              </a:rPr>
              <a:t>n_neighbours</a:t>
            </a:r>
            <a:endParaRPr lang="en-GB" sz="1400" dirty="0">
              <a:solidFill>
                <a:schemeClr val="bg1"/>
              </a:solidFill>
            </a:endParaRPr>
          </a:p>
          <a:p>
            <a:endParaRPr lang="en-GB" sz="1400" b="1" dirty="0">
              <a:solidFill>
                <a:schemeClr val="bg1"/>
              </a:solidFill>
            </a:endParaRPr>
          </a:p>
          <a:p>
            <a:r>
              <a:rPr lang="en-GB" sz="1400" b="1" dirty="0">
                <a:solidFill>
                  <a:schemeClr val="bg1"/>
                </a:solidFill>
              </a:rPr>
              <a:t>Logistic Regression (</a:t>
            </a:r>
            <a:r>
              <a:rPr lang="en-GB" sz="1400" b="1" dirty="0" err="1">
                <a:solidFill>
                  <a:schemeClr val="bg1"/>
                </a:solidFill>
              </a:rPr>
              <a:t>LogReg</a:t>
            </a:r>
            <a:r>
              <a:rPr lang="en-GB" sz="1400" b="1" dirty="0">
                <a:solidFill>
                  <a:schemeClr val="bg1"/>
                </a:solidFill>
              </a:rPr>
              <a:t>):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Tunned Hyperparameter: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C (Regularization strength)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l1_ratio</a:t>
            </a:r>
          </a:p>
          <a:p>
            <a:endParaRPr lang="en-DE" sz="1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4FBB6-CE4A-5B17-305A-806D0C38E946}"/>
              </a:ext>
            </a:extLst>
          </p:cNvPr>
          <p:cNvSpPr txBox="1"/>
          <p:nvPr/>
        </p:nvSpPr>
        <p:spPr>
          <a:xfrm>
            <a:off x="4807955" y="1179463"/>
            <a:ext cx="382143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Advanced Classifiers</a:t>
            </a:r>
          </a:p>
          <a:p>
            <a:endParaRPr lang="en-GB" sz="1600" b="1" dirty="0">
              <a:solidFill>
                <a:schemeClr val="bg1"/>
              </a:solidFill>
            </a:endParaRPr>
          </a:p>
          <a:p>
            <a:r>
              <a:rPr lang="en-GB" sz="1400" b="1" dirty="0">
                <a:solidFill>
                  <a:schemeClr val="bg1"/>
                </a:solidFill>
              </a:rPr>
              <a:t>Support Vector Classifier (SVC):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Tunned Hyperparameters: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C</a:t>
            </a:r>
            <a:r>
              <a:rPr lang="en-GB" sz="1400" b="1" dirty="0">
                <a:solidFill>
                  <a:schemeClr val="bg1"/>
                </a:solidFill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[0.1, 1, 10, 100]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Gamma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[“Scale”, “auto”, 0.01,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[“</a:t>
            </a:r>
            <a:r>
              <a:rPr lang="en-GB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rbf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“linear”, “poly”, “sigmoid”]</a:t>
            </a:r>
            <a:endParaRPr lang="en-GB" sz="1400" b="1" dirty="0">
              <a:solidFill>
                <a:schemeClr val="bg1"/>
              </a:solidFill>
            </a:endParaRPr>
          </a:p>
          <a:p>
            <a:endParaRPr lang="en-GB" sz="1400" b="1" dirty="0">
              <a:solidFill>
                <a:schemeClr val="bg1"/>
              </a:solidFill>
            </a:endParaRPr>
          </a:p>
          <a:p>
            <a:r>
              <a:rPr lang="en-GB" sz="1400" b="1" dirty="0">
                <a:solidFill>
                  <a:schemeClr val="bg1"/>
                </a:solidFill>
              </a:rPr>
              <a:t>Random Forest Classifier (RFC):</a:t>
            </a:r>
          </a:p>
          <a:p>
            <a:r>
              <a:rPr lang="en-GB" sz="1400" b="1" dirty="0">
                <a:solidFill>
                  <a:schemeClr val="bg1"/>
                </a:solidFill>
              </a:rPr>
              <a:t>Tunned Hyperparameters: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bg1"/>
                </a:solidFill>
              </a:rPr>
              <a:t>n_estimators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[100, 200, 300]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max_depth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[None, 5, 10, 20]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min_sample_split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[2, 5, 10]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max_features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→[“sqrt”, “log2”]</a:t>
            </a:r>
            <a:endParaRPr lang="en-GB" sz="1400" b="1" dirty="0">
              <a:solidFill>
                <a:schemeClr val="bg1"/>
              </a:solidFill>
            </a:endParaRPr>
          </a:p>
          <a:p>
            <a:endParaRPr lang="en-GB" sz="1400" b="1" dirty="0">
              <a:solidFill>
                <a:schemeClr val="bg1"/>
              </a:solidFill>
            </a:endParaRPr>
          </a:p>
          <a:p>
            <a:endParaRPr lang="en-GB" sz="1400" dirty="0">
              <a:solidFill>
                <a:schemeClr val="bg1"/>
              </a:solidFill>
            </a:endParaRPr>
          </a:p>
          <a:p>
            <a:endParaRPr lang="en-DE" sz="1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BD965-5436-4041-9DF3-195E82230224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5B083-1594-6968-2783-7E6E7E6EA691}"/>
              </a:ext>
            </a:extLst>
          </p:cNvPr>
          <p:cNvSpPr txBox="1"/>
          <p:nvPr/>
        </p:nvSpPr>
        <p:spPr>
          <a:xfrm>
            <a:off x="497984" y="396114"/>
            <a:ext cx="3996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Method – Feature Selection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A8458-DBBA-1897-3A59-BCD046547179}"/>
              </a:ext>
            </a:extLst>
          </p:cNvPr>
          <p:cNvSpPr txBox="1"/>
          <p:nvPr/>
        </p:nvSpPr>
        <p:spPr>
          <a:xfrm>
            <a:off x="497984" y="1002089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Feature Selector (SFS), forward direction.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 the single best feature at each step.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classifier inside SFS (fixed params). Avoids the cost of nested hyperparameter tuning.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searches over </a:t>
            </a:r>
            <a:r>
              <a:rPr lang="en-US" sz="18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n_features_to_select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[5, 10, 15, 20].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uses RFECV instead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tree's built-in feature importance scores directly.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B23C4-37F7-968F-5EAA-6141C1CE44BC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366E68-4FC3-1E32-468E-D7C0F17F8A48}"/>
              </a:ext>
            </a:extLst>
          </p:cNvPr>
          <p:cNvSpPr txBox="1"/>
          <p:nvPr/>
        </p:nvSpPr>
        <p:spPr>
          <a:xfrm>
            <a:off x="497984" y="396114"/>
            <a:ext cx="7875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Method – Cross-Validation &amp; Hyperparameter Tunning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CA330-BAFE-C9A2-7BD4-274F4A151157}"/>
              </a:ext>
            </a:extLst>
          </p:cNvPr>
          <p:cNvSpPr txBox="1"/>
          <p:nvPr/>
        </p:nvSpPr>
        <p:spPr>
          <a:xfrm>
            <a:off x="497984" y="1417588"/>
            <a:ext cx="45720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8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(5-fold outer CV).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uses 3-fold inner CV. 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 lower to limit computation 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metric: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macro-F1. Treats all three classes equally regardless of size.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and std on training data, final score on held-out test set.</a:t>
            </a:r>
          </a:p>
          <a:p>
            <a:pPr>
              <a:buSzPct val="100000"/>
            </a:pPr>
            <a:endParaRPr lang="en-US" sz="18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macro-F1?</a:t>
            </a:r>
          </a:p>
          <a:p>
            <a:pPr>
              <a:buSzPct val="100000"/>
            </a:pP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1,6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Normal vs 17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Pathological samples, accuracy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misleading. Macro-F1 treats all three classes equally.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C70648-A334-9F6C-886D-04162B195350}"/>
              </a:ext>
            </a:extLst>
          </p:cNvPr>
          <p:cNvSpPr/>
          <p:nvPr/>
        </p:nvSpPr>
        <p:spPr>
          <a:xfrm>
            <a:off x="5248141" y="1132536"/>
            <a:ext cx="3054948" cy="2878428"/>
          </a:xfrm>
          <a:prstGeom prst="roundRect">
            <a:avLst/>
          </a:prstGeom>
          <a:solidFill>
            <a:srgbClr val="DBE8F9">
              <a:alpha val="20000"/>
            </a:srgbClr>
          </a:solidFill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1EB7D-CC4B-B733-743B-3D7E1C9C4166}"/>
              </a:ext>
            </a:extLst>
          </p:cNvPr>
          <p:cNvSpPr txBox="1"/>
          <p:nvPr/>
        </p:nvSpPr>
        <p:spPr>
          <a:xfrm>
            <a:off x="5542449" y="1681605"/>
            <a:ext cx="27606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Class Imbalance</a:t>
            </a:r>
            <a:r>
              <a:rPr lang="en-DE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Both </a:t>
            </a:r>
            <a:r>
              <a:rPr lang="en-DE" sz="1200" b="1" dirty="0">
                <a:solidFill>
                  <a:schemeClr val="bg1"/>
                </a:solidFill>
              </a:rPr>
              <a:t>SMOTE</a:t>
            </a:r>
            <a:r>
              <a:rPr lang="en-GB" sz="1200" b="1" dirty="0">
                <a:solidFill>
                  <a:schemeClr val="bg1"/>
                </a:solidFill>
              </a:rPr>
              <a:t> (Synthetic Minority Oversampling Technique)</a:t>
            </a:r>
            <a:r>
              <a:rPr lang="en-DE" sz="1200" b="1" dirty="0">
                <a:solidFill>
                  <a:schemeClr val="bg1"/>
                </a:solidFill>
              </a:rPr>
              <a:t> </a:t>
            </a:r>
            <a:r>
              <a:rPr lang="en-DE" sz="1200" dirty="0">
                <a:solidFill>
                  <a:schemeClr val="bg1"/>
                </a:solidFill>
              </a:rPr>
              <a:t>and </a:t>
            </a:r>
            <a:r>
              <a:rPr lang="en-DE" sz="1200" b="1" dirty="0" err="1">
                <a:solidFill>
                  <a:schemeClr val="bg1"/>
                </a:solidFill>
              </a:rPr>
              <a:t>class_weight</a:t>
            </a:r>
            <a:r>
              <a:rPr lang="en-DE" sz="1200" b="1" dirty="0">
                <a:solidFill>
                  <a:schemeClr val="bg1"/>
                </a:solidFill>
              </a:rPr>
              <a:t>="balanced" </a:t>
            </a:r>
            <a:r>
              <a:rPr lang="en-DE" sz="1200" dirty="0">
                <a:solidFill>
                  <a:schemeClr val="bg1"/>
                </a:solidFill>
              </a:rPr>
              <a:t>were evaluated. SMOTE consistently outperformed class weighting across all model</a:t>
            </a:r>
            <a:r>
              <a:rPr lang="en-GB" sz="1200" dirty="0">
                <a:solidFill>
                  <a:schemeClr val="bg1"/>
                </a:solidFill>
              </a:rPr>
              <a:t>s</a:t>
            </a:r>
            <a:r>
              <a:rPr lang="en-DE" sz="1200" dirty="0">
                <a:solidFill>
                  <a:schemeClr val="bg1"/>
                </a:solidFill>
              </a:rPr>
              <a:t>.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27760-B1E5-DCD9-A04F-4371D4F58E50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12/20</a:t>
            </a:r>
            <a:endParaRPr lang="en-DE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E6099-E353-9332-589B-BD5C4ACBEB9E}"/>
              </a:ext>
            </a:extLst>
          </p:cNvPr>
          <p:cNvSpPr txBox="1"/>
          <p:nvPr/>
        </p:nvSpPr>
        <p:spPr>
          <a:xfrm>
            <a:off x="497984" y="232492"/>
            <a:ext cx="4165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Results – Model Comparison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AF545-3BF4-E579-AF36-18694DDF2A95}"/>
              </a:ext>
            </a:extLst>
          </p:cNvPr>
          <p:cNvSpPr txBox="1"/>
          <p:nvPr/>
        </p:nvSpPr>
        <p:spPr>
          <a:xfrm>
            <a:off x="497984" y="694157"/>
            <a:ext cx="8546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with the same pipeline: scaling → feature selection → </a:t>
            </a:r>
            <a:r>
              <a:rPr lang="en-US" sz="16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(5-fold, macro-F1).</a:t>
            </a: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F284BF-FAC2-CFFE-0075-91C2842D7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824638"/>
              </p:ext>
            </p:extLst>
          </p:nvPr>
        </p:nvGraphicFramePr>
        <p:xfrm>
          <a:off x="560338" y="1278932"/>
          <a:ext cx="8023323" cy="3467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0355">
                  <a:extLst>
                    <a:ext uri="{9D8B030D-6E8A-4147-A177-3AD203B41FA5}">
                      <a16:colId xmlns:a16="http://schemas.microsoft.com/office/drawing/2014/main" val="3664230070"/>
                    </a:ext>
                  </a:extLst>
                </a:gridCol>
                <a:gridCol w="2002665">
                  <a:extLst>
                    <a:ext uri="{9D8B030D-6E8A-4147-A177-3AD203B41FA5}">
                      <a16:colId xmlns:a16="http://schemas.microsoft.com/office/drawing/2014/main" val="3817745844"/>
                    </a:ext>
                  </a:extLst>
                </a:gridCol>
                <a:gridCol w="1481070">
                  <a:extLst>
                    <a:ext uri="{9D8B030D-6E8A-4147-A177-3AD203B41FA5}">
                      <a16:colId xmlns:a16="http://schemas.microsoft.com/office/drawing/2014/main" val="1447223267"/>
                    </a:ext>
                  </a:extLst>
                </a:gridCol>
                <a:gridCol w="1094704">
                  <a:extLst>
                    <a:ext uri="{9D8B030D-6E8A-4147-A177-3AD203B41FA5}">
                      <a16:colId xmlns:a16="http://schemas.microsoft.com/office/drawing/2014/main" val="2276014659"/>
                    </a:ext>
                  </a:extLst>
                </a:gridCol>
                <a:gridCol w="1229933">
                  <a:extLst>
                    <a:ext uri="{9D8B030D-6E8A-4147-A177-3AD203B41FA5}">
                      <a16:colId xmlns:a16="http://schemas.microsoft.com/office/drawing/2014/main" val="3679488150"/>
                    </a:ext>
                  </a:extLst>
                </a:gridCol>
                <a:gridCol w="1094596">
                  <a:extLst>
                    <a:ext uri="{9D8B030D-6E8A-4147-A177-3AD203B41FA5}">
                      <a16:colId xmlns:a16="http://schemas.microsoft.com/office/drawing/2014/main" val="2705385189"/>
                    </a:ext>
                  </a:extLst>
                </a:gridCol>
              </a:tblGrid>
              <a:tr h="438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Params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#_Selected Features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 F1 (mean, std)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F1 (macro)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Accuracy</a:t>
                      </a:r>
                      <a:endParaRPr lang="en-D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35257"/>
                  </a:ext>
                </a:extLst>
              </a:tr>
              <a:tr h="34535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KNN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k=3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0.8588, </a:t>
                      </a:r>
                    </a:p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0.0237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0.8676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0.9338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01138"/>
                  </a:ext>
                </a:extLst>
              </a:tr>
              <a:tr h="6516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Logistic Regression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C=10, l1_ratio=0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0.7091,</a:t>
                      </a:r>
                    </a:p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0.0259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0.7804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0.8723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663400"/>
                  </a:ext>
                </a:extLst>
              </a:tr>
              <a:tr h="6516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SVC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C=100, gamma=0.1,</a:t>
                      </a:r>
                    </a:p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Kernel=“</a:t>
                      </a:r>
                      <a:r>
                        <a:rPr lang="en-GB" sz="16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rbf</a:t>
                      </a:r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0.8431,</a:t>
                      </a:r>
                    </a:p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0.0293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0.8830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0.9385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79927"/>
                  </a:ext>
                </a:extLst>
              </a:tr>
              <a:tr h="6516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RFC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</a:t>
                      </a:r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=None, </a:t>
                      </a:r>
                      <a:r>
                        <a:rPr lang="en-GB" sz="16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max_features</a:t>
                      </a:r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=“sqrt, </a:t>
                      </a:r>
                      <a:r>
                        <a:rPr lang="en-GB" sz="16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min_samples_split</a:t>
                      </a:r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=2, </a:t>
                      </a:r>
                    </a:p>
                    <a:p>
                      <a:pPr algn="ctr"/>
                      <a:r>
                        <a:rPr lang="en-GB" sz="16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</a:t>
                      </a:r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=100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0.8963,</a:t>
                      </a:r>
                    </a:p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0.0201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0.8867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0.9362</a:t>
                      </a:r>
                      <a:endParaRPr lang="en-DE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0170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AFE3ED-CC7D-1418-EDDE-68E84190D88B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220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371D6-3ACD-22E0-83EB-5413EE45DB44}"/>
              </a:ext>
            </a:extLst>
          </p:cNvPr>
          <p:cNvSpPr txBox="1"/>
          <p:nvPr/>
        </p:nvSpPr>
        <p:spPr>
          <a:xfrm>
            <a:off x="497984" y="396114"/>
            <a:ext cx="3069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Results – Best Model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BB668-5F07-68D3-053D-63D84FDD3289}"/>
              </a:ext>
            </a:extLst>
          </p:cNvPr>
          <p:cNvSpPr txBox="1"/>
          <p:nvPr/>
        </p:nvSpPr>
        <p:spPr>
          <a:xfrm>
            <a:off x="497984" y="926359"/>
            <a:ext cx="8148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of RFC on the held-out test set.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involve the Suspect class</a:t>
            </a: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confused with both Normal and Pathological.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66CC8-7EA2-AB39-5169-916D4B9D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62" y="1849689"/>
            <a:ext cx="7431110" cy="3121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7A79D5-83D2-4604-0AA2-DC27D1E8C884}"/>
              </a:ext>
            </a:extLst>
          </p:cNvPr>
          <p:cNvSpPr txBox="1"/>
          <p:nvPr/>
        </p:nvSpPr>
        <p:spPr>
          <a:xfrm>
            <a:off x="8356599" y="475967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2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CE7C4D-16BF-F73E-7BA1-5D4A0DA9A24D}"/>
              </a:ext>
            </a:extLst>
          </p:cNvPr>
          <p:cNvSpPr txBox="1"/>
          <p:nvPr/>
        </p:nvSpPr>
        <p:spPr>
          <a:xfrm>
            <a:off x="497984" y="396114"/>
            <a:ext cx="6336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Results – Why RFC outperformed the others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F1E59-8B78-DF43-1BB9-863F3FD87527}"/>
              </a:ext>
            </a:extLst>
          </p:cNvPr>
          <p:cNvSpPr txBox="1"/>
          <p:nvPr/>
        </p:nvSpPr>
        <p:spPr>
          <a:xfrm>
            <a:off x="497984" y="857779"/>
            <a:ext cx="46683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Non-linear boundaries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Normal/Suspect boundary is non-linear; RFC models it naturally through recursive splits without shape assumptions.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interactions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RFC captures combinations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every split; 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LogReg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treats each feature independently.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stability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veraging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hundreds of trees cancels individual errors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distributional assumptions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kewed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non-Gaussian features do not affect tree splits; </a:t>
            </a:r>
            <a:r>
              <a:rPr lang="en-D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and SV</a:t>
            </a:r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D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often perform better when features have more regular distributions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 robustness</a:t>
            </a:r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DE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plits</a:t>
            </a:r>
            <a:r>
              <a:rPr lang="en-D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threshold-based, not distance-based, so retained outliers do not distort RFC the way they distort KNN and SVC.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B0064-4E1B-903F-39E1-B8B7C34E577B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43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BEB8-1E68-2551-1538-814BEC1C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4C39D-98E4-83BC-AB61-5C089995FFE6}"/>
              </a:ext>
            </a:extLst>
          </p:cNvPr>
          <p:cNvSpPr txBox="1"/>
          <p:nvPr/>
        </p:nvSpPr>
        <p:spPr>
          <a:xfrm>
            <a:off x="497984" y="396114"/>
            <a:ext cx="6336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Results – Why RFC outperformed the others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ACE5B-3779-3DE7-7F96-CB0AB75FC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84" y="923364"/>
            <a:ext cx="7926946" cy="4077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03076-D28E-9B25-E65F-AC8FFC8C02A5}"/>
              </a:ext>
            </a:extLst>
          </p:cNvPr>
          <p:cNvSpPr txBox="1"/>
          <p:nvPr/>
        </p:nvSpPr>
        <p:spPr>
          <a:xfrm>
            <a:off x="8511145" y="4798316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808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5235CC-BE60-3A89-E728-25C8EE319831}"/>
              </a:ext>
            </a:extLst>
          </p:cNvPr>
          <p:cNvSpPr txBox="1"/>
          <p:nvPr/>
        </p:nvSpPr>
        <p:spPr>
          <a:xfrm>
            <a:off x="497984" y="396114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Discussion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B0229-4EDC-254E-715E-C64759BD938E}"/>
              </a:ext>
            </a:extLst>
          </p:cNvPr>
          <p:cNvSpPr txBox="1"/>
          <p:nvPr/>
        </p:nvSpPr>
        <p:spPr>
          <a:xfrm>
            <a:off x="440029" y="1294477"/>
            <a:ext cx="79398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classifiers (RFC, SVC) outperformed base classifiers across all metrics confirming that the Normal/Suspect boundary requires non-linear modelling.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DE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Suspect class remained the hardest across all four models.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DE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overfitting (train F1 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rising toward 1.0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DE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F1 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859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at k=1 was the clearest example of how hyperparameter tuning directly impacts generalisation.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DE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Placing SMOTE inside the CV pipeline was critical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applying it before splitting would have inflated CV scores by leaking synthetic samples into the validation folds.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2E870-A403-C8DB-A3EF-C13F85323332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648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77E2-2A36-F5A8-F7AC-E17B5D907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DA5AA3-21F5-C0AE-9BA7-60939A03D089}"/>
              </a:ext>
            </a:extLst>
          </p:cNvPr>
          <p:cNvSpPr txBox="1"/>
          <p:nvPr/>
        </p:nvSpPr>
        <p:spPr>
          <a:xfrm>
            <a:off x="497983" y="254447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Discussion</a:t>
            </a:r>
            <a:endParaRPr lang="en-DE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23D42-C645-F137-3FFF-F532D4675C7C}"/>
              </a:ext>
            </a:extLst>
          </p:cNvPr>
          <p:cNvSpPr txBox="1"/>
          <p:nvPr/>
        </p:nvSpPr>
        <p:spPr>
          <a:xfrm>
            <a:off x="497983" y="779960"/>
            <a:ext cx="7939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learning curve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had not plateaued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real data could further improve minority class performance, particularly for Pathological.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AC486-207F-4A40-241E-05B3754EBD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64" y="1342517"/>
            <a:ext cx="5840018" cy="38009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1FBFF6-C12E-2417-2576-F24F421E0B27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16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D055-E901-2756-C85F-228D37A5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096C9-C006-74DE-5628-FEF5902E8689}"/>
              </a:ext>
            </a:extLst>
          </p:cNvPr>
          <p:cNvSpPr txBox="1"/>
          <p:nvPr/>
        </p:nvSpPr>
        <p:spPr>
          <a:xfrm>
            <a:off x="497984" y="396114"/>
            <a:ext cx="1547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FBE7D-CD91-A649-7E8E-86631987C750}"/>
              </a:ext>
            </a:extLst>
          </p:cNvPr>
          <p:cNvSpPr txBox="1"/>
          <p:nvPr/>
        </p:nvSpPr>
        <p:spPr>
          <a:xfrm>
            <a:off x="560231" y="915602"/>
            <a:ext cx="76822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of 2,126 CTG recordings, 21 features, 3 imbalanced classes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macro-F1 chosen as the evaluation metric.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 13 duplicate rows removed, outliers retained as potential pathological indicators.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 reduced 21 features to 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informative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SFS for KNN, </a:t>
            </a:r>
            <a:r>
              <a:rPr lang="en-DE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LogReg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SVC; RFECV for RFC.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classifiers (RFC, SVC) outperformed base classifiers (KNN, </a:t>
            </a:r>
            <a:r>
              <a:rPr lang="en-DE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LogReg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across all metrics.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model: RFC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;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F1 = [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0.8867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· CV F1 = [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mean=0.8963, std=0.0201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].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challenge: Suspect class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DE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highest inter-class confusion across all models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DE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CB408-34A2-A1C2-D255-884B4A748EA1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44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A908-05CA-CDE1-7493-1CCF7879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0B70C-474D-A6D1-EF2A-867D8BDB34D2}"/>
              </a:ext>
            </a:extLst>
          </p:cNvPr>
          <p:cNvSpPr txBox="1"/>
          <p:nvPr/>
        </p:nvSpPr>
        <p:spPr>
          <a:xfrm>
            <a:off x="2808440" y="2110085"/>
            <a:ext cx="3527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Thank You – Questions?</a:t>
            </a:r>
            <a:endParaRPr lang="en-DE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B490B-E98B-506D-598A-EE7E8B93E5C0}"/>
              </a:ext>
            </a:extLst>
          </p:cNvPr>
          <p:cNvSpPr txBox="1"/>
          <p:nvPr/>
        </p:nvSpPr>
        <p:spPr>
          <a:xfrm>
            <a:off x="8356599" y="4759679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20/20</a:t>
            </a:r>
            <a:endParaRPr lang="en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39809"/>
      </p:ext>
    </p:extLst>
  </p:cSld>
  <p:clrMapOvr>
    <a:masterClrMapping/>
  </p:clrMapOvr>
</p:sld>
</file>

<file path=ppt/theme/theme1.xml><?xml version="1.0" encoding="utf-8"?>
<a:theme xmlns:a="http://schemas.openxmlformats.org/drawingml/2006/main" name="Medical Conference Style Presentation by Slidesgo">
  <a:themeElements>
    <a:clrScheme name="Simple Light">
      <a:dk1>
        <a:srgbClr val="04289B"/>
      </a:dk1>
      <a:lt1>
        <a:srgbClr val="000000"/>
      </a:lt1>
      <a:dk2>
        <a:srgbClr val="FFFFFF"/>
      </a:dk2>
      <a:lt2>
        <a:srgbClr val="11437E"/>
      </a:lt2>
      <a:accent1>
        <a:srgbClr val="4D8EE0"/>
      </a:accent1>
      <a:accent2>
        <a:srgbClr val="E2E2E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1454</Words>
  <Application>Microsoft Office PowerPoint</Application>
  <PresentationFormat>On-screen Show (16:9)</PresentationFormat>
  <Paragraphs>255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Cambria</vt:lpstr>
      <vt:lpstr>Inter</vt:lpstr>
      <vt:lpstr>OpenSymbol</vt:lpstr>
      <vt:lpstr>Symbol</vt:lpstr>
      <vt:lpstr>Wingdings</vt:lpstr>
      <vt:lpstr>Medical Conference Style Presentation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Bakwowi Junior</dc:creator>
  <cp:lastModifiedBy>Bakwowi Junior</cp:lastModifiedBy>
  <cp:revision>69</cp:revision>
  <cp:lastPrinted>2026-07-08T19:11:06Z</cp:lastPrinted>
  <dcterms:modified xsi:type="dcterms:W3CDTF">2026-07-08T19:12:25Z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2026-07-04T18:44:40Z</dcterms:created>
  <dc:creator>Slidesgo AI</dc:creator>
  <dc:description/>
  <dc:language>en-US</dc:language>
  <cp:lastModifiedBy>Unknown Creator</cp:lastModifiedBy>
  <dcterms:modified xsi:type="dcterms:W3CDTF">2026-07-04T18:44:40Z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a22e23bb-b736-45eb-8dde-83ecbf1f5404</vt:lpwstr>
  </property>
</Properties>
</file>