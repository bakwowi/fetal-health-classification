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Suspect</c:v>
                </c:pt>
                <c:pt idx="2">
                  <c:v>Pathological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1655</c:v>
                </c:pt>
                <c:pt idx="1">
                  <c:v>295</c:v>
                </c:pt>
                <c:pt idx="2">
                  <c:v>176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E3-44F0-9601-C1995C0F65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A6B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(mean)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KNN</c:v>
                </c:pt>
                <c:pt idx="1">
                  <c:v>LogReg</c:v>
                </c:pt>
                <c:pt idx="2">
                  <c:v>Random Forest</c:v>
                </c:pt>
                <c:pt idx="3">
                  <c:v>SVC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0.81200000000000006</c:v>
                </c:pt>
                <c:pt idx="1">
                  <c:v>0.83099999999999996</c:v>
                </c:pt>
                <c:pt idx="2">
                  <c:v>0.91200000000000003</c:v>
                </c:pt>
                <c:pt idx="3">
                  <c:v>0.88900000000000001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83-4615-ADAA-0F027FAB5E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Calibri"/>
                  </a:defRPr>
                </a:pPr>
                <a:endParaRPr lang="en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KNN</c:v>
                </c:pt>
                <c:pt idx="1">
                  <c:v>LogReg</c:v>
                </c:pt>
                <c:pt idx="2">
                  <c:v>Random Forest</c:v>
                </c:pt>
                <c:pt idx="3">
                  <c:v>SVC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0.80500000000000005</c:v>
                </c:pt>
                <c:pt idx="1">
                  <c:v>0.82399999999999995</c:v>
                </c:pt>
                <c:pt idx="2">
                  <c:v>0.91800000000000004</c:v>
                </c:pt>
                <c:pt idx="3">
                  <c:v>0.88200000000000001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83-4615-ADAA-0F027FAB5E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A6B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5924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A opens. ~30s. Introduce both presenters by name so the room knows who is who. One sentence on the task: predict fetal health state from CTG features, three classes. State the red line: we frame it as a model-comparison study — two base classifiers (KNN, Logistic Regression) vs two advanced ones (Random Forest, SVC) — judged by class-wise averaged F1. Do NOT read the outline aloud; the examiners expect the standard scientific structure. Hand to the Motivation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A. ~1 min. Lead with why CTG matters clinically, then the gap (manual reading is subjective), then state the research question precisely. Land on the goal card: a *validated* 3-class model judged by macro-F1, and pre-empt the obvious question — why not accuracy — because the data is imbalanced. This sets up the Data slide. Keep it tight; do not list methods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A. ~1 min. Hit the four required facts first (samples, features, classes, class distribution is on the next slide). Numbers shown are placeholders — replace 2126 / 21 / 3 with your exact counts after re-running. Briefly group the features so the audience sees they are all CTG-derived signals, not arbitrary columns. Explain the 1/2/3 → 0/1/2 remap once. Then move to the class-distribution plot.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A. ~45s, then HAND OVER. Make exactly one point: the data is imbalanced, which is why macro-F1 and stratification matter. Replace the three counts with your real numbers (and keep only counts, or add percentages — your choice, but stay consistent). End with: 'I'll hand over to &lt;B&gt; to walk through the method.' This is the A→B handoff — roughly the halfway 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B opens the Method section. ~1 min. Walk left to right through the five stages — describe the *construction* of the evaluation, do NOT show code (Mayer pitfall #2). Emphasise the bottom strip: everything that learns from data sits inside the CV folds, so there's no leakage, and the test set is held out until the end. This is the single most examiner-pleasing point in the talk — say it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B. ~1 min. Frame the comparison: two simple baselines vs two stronger models. For each, name only the key hyperparameters you actually tuned — don't recite full grids. Bottom row: state that feature selection is a wrapper scored by macro-F1, validation is stratified k-fold, and you report CV mean ± std before the single test-set number. If asked which feature selector: SequentialFeatureSelector for the distance/linear models, RFECV for Random Forest. Move to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B. ~30s. This slide exists because Mayer requires Results to be separated from Method, and to first state what you'll show before showing it. Keep it to three sentences: CV mean ± std, then test F1, then the confusion matrix for the winner. Then advance to the comparison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B. ~1.5 min — the core result slide. ALL NUMBERS ARE PLACEHOLDERS: replace with your real macro-F1 values and re-state the winner. Read the chart: do advanced models beat the baselines, and by how much? Point explicitly at the dark winner card (Mayer: mark the most important number). Discuss whether the CV and test scores agree — a small gap means the estimate is trustworthy. Then go to the confusion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B. ~1 min. This is a *recreated* matrix (Mayer: never screenshot; rebuild it in the slide for legibility). Replace all nine inner counts with your real test confusion matrix. Read it qualitatively: where do errors concentrate, and crucially how many Pathological cases are missed — that's the costly error. If you have space in the real deck, Mayer suggests pairing absolute + relative (percentage) matrices. Hand back to A for the summary, or keep going if B closes.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A returns for Discussion. ~1 min. Mayer separates Results (the numbers) from Discussion (what they mean) — this is the 'mean' part. Be honest about limitations; examiners reward it. The imbalance caveat is the key one. Don't introduce new numbers here — interpret the ones already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A closes. ~40s. Four lines only: task, method, result, caveat. End on the thank-you and invite questions. Total target ~10 min for two speakers — practise with a stopwatch (Mayer penalises both overtime AND finishing &gt;1 min early). Both presenters should be ready for the Q&amp;A slide's anticipated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slide — keep it last; show only if useful during Q&amp;A. These five are the most likely examiner questions given Mayer's emphasis. Split them between A and B by topic: A takes metric/data questions, B takes method/model questions. Replace any placeholder claims (e.g. learning-curve behaviour) with what you actually observed.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77240" y="998942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Fetal Health Classification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227228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base and advanced classifiers on cardiotocography (CTG) data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" y="3022212"/>
            <a:ext cx="818388" cy="457200"/>
          </a:xfrm>
          <a:prstGeom prst="roundRect">
            <a:avLst>
              <a:gd name="adj" fmla="val 20000"/>
            </a:avLst>
          </a:prstGeom>
          <a:solidFill>
            <a:srgbClr val="12454B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777240" y="3022212"/>
            <a:ext cx="818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69948" y="3022212"/>
            <a:ext cx="2500884" cy="457200"/>
          </a:xfrm>
          <a:prstGeom prst="roundRect">
            <a:avLst>
              <a:gd name="adj" fmla="val 20000"/>
            </a:avLst>
          </a:prstGeom>
          <a:solidFill>
            <a:srgbClr val="12454B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1869948" y="3022212"/>
            <a:ext cx="25008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45152" y="3022212"/>
            <a:ext cx="1869948" cy="457200"/>
          </a:xfrm>
          <a:prstGeom prst="roundRect">
            <a:avLst>
              <a:gd name="adj" fmla="val 20000"/>
            </a:avLst>
          </a:prstGeom>
          <a:solidFill>
            <a:srgbClr val="12454B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4645152" y="3022212"/>
            <a:ext cx="18699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89420" y="3022212"/>
            <a:ext cx="818388" cy="457200"/>
          </a:xfrm>
          <a:prstGeom prst="roundRect">
            <a:avLst>
              <a:gd name="adj" fmla="val 20000"/>
            </a:avLst>
          </a:prstGeom>
          <a:solidFill>
            <a:srgbClr val="12454B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6789420" y="3022212"/>
            <a:ext cx="8183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AF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Evaluation Project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5440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A &amp; Presenter B
</a:t>
            </a:r>
            <a:endParaRPr lang="en-US" sz="16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FC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 Deggendorf · Summer Semester 2026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Fetal Health Classification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0" y="384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relevance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911096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Cardiotocography (CTG) records fetal heart rate and uterine activity; reading it well supports timely decisions.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237744" cy="23774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reading is hard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282696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interpretation is subjective and varies between clinicians — a consistent automated second opinion has value.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237744" cy="23774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914400" y="42976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question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654296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standard ML classifiers separate Normal / Suspect / Pathological reliably — and do advanced models beat simple baselines enough to justify their cost?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498080" y="1691640"/>
            <a:ext cx="4114800" cy="3383280"/>
          </a:xfrm>
          <a:prstGeom prst="roundRect">
            <a:avLst>
              <a:gd name="adj" fmla="val 2703"/>
            </a:avLst>
          </a:prstGeom>
          <a:solidFill>
            <a:srgbClr val="EAF4F4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777240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0" y="22860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well-validated 3-class classifier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772400" y="306324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Class-wise averaged F1 (macro-F1)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accuracy?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are imbalanced — accuracy would reward ignoring the rare, important cases.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Fetal Health Classification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—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0" y="384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2 126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6002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3383280" y="1783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383280" y="2606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6217920" y="1783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217920" y="2606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52560" y="16002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9052560" y="1783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052560" y="2606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388620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FHR baseline, accelerations, fetal movement, uterine contractions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Decelerations: light / severe / prolongued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 &amp; long-term variability measures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FHR histogram statistics (width, min/max, mode, mean, median, variance…)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— fetal_health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40880" y="38862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Normal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→ Suspect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→ Pathological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Remapped to 0 / 1 / 2 for modelling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Fetal Health Classification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— Class Distribution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0" y="384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45920"/>
          <a:ext cx="67665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2011680"/>
            <a:ext cx="3840480" cy="2743200"/>
          </a:xfrm>
          <a:prstGeom prst="roundRect">
            <a:avLst>
              <a:gd name="adj" fmla="val 3333"/>
            </a:avLst>
          </a:prstGeom>
          <a:solidFill>
            <a:srgbClr val="EAF4F4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" name="Text 5"/>
          <p:cNvSpPr/>
          <p:nvPr/>
        </p:nvSpPr>
        <p:spPr>
          <a:xfrm>
            <a:off x="8046720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0" y="2606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class imbalance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046720" y="32004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 class dominates; the two clinically critical classes are rare.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</a:t>
            </a: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macro-F1 and use stratified splits / class weighting — not raw accuracy.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Fetal Health Classification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— Evaluation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0" y="384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B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1335024" y="214884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1335024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320040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 / test split to preserve class ratios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15184" y="27432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2798064" y="192024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EAF4F4"/>
          </a:solidFill>
          <a:ln w="12700">
            <a:solidFill>
              <a:srgbClr val="E2ECEC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3584448" y="214884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3584448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889504" y="278892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07792" y="320040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features (fit on training folds only)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64608" y="27432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047488" y="192024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9" name="Shape 17"/>
          <p:cNvSpPr/>
          <p:nvPr/>
        </p:nvSpPr>
        <p:spPr>
          <a:xfrm>
            <a:off x="5833872" y="214884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5833872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138928" y="278892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57216" y="320040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wrapped inside cross-validation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114032" y="27432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7296912" y="192024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EAF4F4"/>
          </a:solidFill>
          <a:ln w="12700">
            <a:solidFill>
              <a:srgbClr val="E2ECEC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5" name="Shape 23"/>
          <p:cNvSpPr/>
          <p:nvPr/>
        </p:nvSpPr>
        <p:spPr>
          <a:xfrm>
            <a:off x="8083296" y="214884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6" name="Text 24"/>
          <p:cNvSpPr/>
          <p:nvPr/>
        </p:nvSpPr>
        <p:spPr>
          <a:xfrm>
            <a:off x="8083296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88352" y="278892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06640" y="320040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over hyperparameters, scored by macro-F1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363456" y="274320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9546336" y="192024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31" name="Shape 29"/>
          <p:cNvSpPr/>
          <p:nvPr/>
        </p:nvSpPr>
        <p:spPr>
          <a:xfrm>
            <a:off x="10332720" y="214884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2" name="Text 30"/>
          <p:cNvSpPr/>
          <p:nvPr/>
        </p:nvSpPr>
        <p:spPr>
          <a:xfrm>
            <a:off x="10332720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637776" y="278892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656064" y="320040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on the held-out test set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45262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BEEE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6" name="Text 34"/>
          <p:cNvSpPr/>
          <p:nvPr/>
        </p:nvSpPr>
        <p:spPr>
          <a:xfrm>
            <a:off x="777240" y="45262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leakage:  </a:t>
            </a: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scaling, feature selection and tuning all happen </a:t>
            </a:r>
            <a:r>
              <a:rPr lang="en-US" sz="1350" b="1" i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</a:t>
            </a: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cross-validation fold — the test set is touched only once, at the very end.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Fetal Health Classification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— Models &amp; Selection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0" y="384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B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49240" cy="2788920"/>
          </a:xfrm>
          <a:prstGeom prst="roundRect">
            <a:avLst>
              <a:gd name="adj" fmla="val 3279"/>
            </a:avLst>
          </a:prstGeom>
          <a:solidFill>
            <a:srgbClr val="EAF4F4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classifiers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 — distance-based vote; tune k, weights, metric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linear baseline; tune C, class weighting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349240" cy="2788920"/>
          </a:xfrm>
          <a:prstGeom prst="roundRect">
            <a:avLst>
              <a:gd name="adj" fmla="val 3279"/>
            </a:avLst>
          </a:prstGeom>
          <a:solidFill>
            <a:srgbClr val="EAF1F0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653796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classifiers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83680" y="233172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tree ensemble; tune depth, trees, split sizes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Classifier — RBF / linear kernels; tune C, gamma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358444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731520" y="4800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1520" y="51389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wrapper, scored by macro-F1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70248" y="4663440"/>
            <a:ext cx="358444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4453128" y="4800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453128" y="51389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k-fold cross-validation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91856" y="4663440"/>
            <a:ext cx="358444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8174736" y="4800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score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174736" y="51389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mean ± std, then test set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Fetal Health Classification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Discussion — What We Compare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0" y="384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B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numbers — here is exactly what we measured and how to read it: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22576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1051560" y="224942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score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2615184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mean ± standard deviation across folds — measures stability, not luck.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465576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1051560" y="339242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score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758184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on data never seen during tuning — the honest performance estimate.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608576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1051560" y="453542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behaviour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4901184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for the chosen model — where do errors fall, and on which class?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Fetal Health Classification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Model Comparison (macro-F1)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0" y="384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B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645920"/>
          <a:ext cx="75895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458200" y="2011680"/>
            <a:ext cx="3154680" cy="2743200"/>
          </a:xfrm>
          <a:prstGeom prst="roundRect">
            <a:avLst>
              <a:gd name="adj" fmla="val 3333"/>
            </a:avLst>
          </a:prstGeom>
          <a:solidFill>
            <a:srgbClr val="0B2E33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" name="Text 5"/>
          <p:cNvSpPr/>
          <p:nvPr/>
        </p:nvSpPr>
        <p:spPr>
          <a:xfrm>
            <a:off x="868680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0" y="2606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686800" y="32004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0.918
</a:t>
            </a:r>
            <a:endParaRPr lang="en-US" sz="4000" dirty="0"/>
          </a:p>
          <a:p>
            <a:pPr marL="0" indent="0">
              <a:buNone/>
            </a:pPr>
            <a:r>
              <a:rPr lang="en-US" sz="1300" dirty="0">
                <a:solidFill>
                  <a:srgbClr val="CFE8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macro-F1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Fetal Health Classification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Best Model in Detail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0" y="384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B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Random Forest (test set)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6217920" cy="27432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Pred. Normal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Pred. Suspect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Pred. Pathol.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83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83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2E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Pathological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5A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831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223760" y="1920240"/>
            <a:ext cx="4389120" cy="3291840"/>
          </a:xfrm>
          <a:prstGeom prst="roundRect">
            <a:avLst>
              <a:gd name="adj" fmla="val 2778"/>
            </a:avLst>
          </a:prstGeom>
          <a:solidFill>
            <a:srgbClr val="EAF4F4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9" name="Text 6"/>
          <p:cNvSpPr/>
          <p:nvPr/>
        </p:nvSpPr>
        <p:spPr>
          <a:xfrm>
            <a:off x="7498080" y="2103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400" dirty="0"/>
          </a:p>
        </p:txBody>
      </p:sp>
      <p:sp>
        <p:nvSpPr>
          <p:cNvPr id="7" name="Text 7"/>
          <p:cNvSpPr/>
          <p:nvPr/>
        </p:nvSpPr>
        <p:spPr>
          <a:xfrm>
            <a:off x="7589520" y="251460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= correct predictions (highlighted).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confusion is between Normal and Suspect — clinically the least dangerous mix-up.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Pathological recall is what matters most: few of these are missed.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per-class precision / recall when you present the real run.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Fetal Health Classification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0" y="384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1234440" y="18013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worked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models (RF / SVC) beat the linear / distance baselines on macro-F1.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CV gave stable scores (small std) — results aren't a lucky split.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kept only the informative CTG signals.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164592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2ECEC"/>
            </a:solidFill>
            <a:prstDash val="solid"/>
          </a:ln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6583680" y="1874520"/>
            <a:ext cx="274320" cy="274320"/>
          </a:xfrm>
          <a:prstGeom prst="ellipse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6995160" y="18013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675120" y="23774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 — few Pathological samples limit confidence on that class.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dataset, single source; no external validation.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feature selection isn't guaranteed optimal.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Fetal Health Classification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24128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1005840" y="1508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108960" y="150876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fetal-health classification from CTG features, judged by macro-F1.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108960" y="256032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Leakage-free pipeline: stratified CV with in-fold scaling, feature selection and tuning.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1005840" y="3611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108960" y="361188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models (Random Forest / SVC) outperformed the KNN and Logistic-Regression baselines.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256032" cy="256032"/>
          </a:xfrm>
          <a:prstGeom prst="ellipse">
            <a:avLst/>
          </a:prstGeom>
          <a:solidFill>
            <a:srgbClr val="E07A5F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1005840" y="4663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108960" y="466344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limits confidence on the rare Pathological class — the clinically critical one.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5806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Fetal Health Classification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Anticipated Questions (backup)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0" y="384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457200" y="10241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macro-F1 and not accuracy?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9476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— accuracy rewards predicting the majority class; macro-F1 weights all three classes equally.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5328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avoid data leakage?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Scaling, feature selection and tuning are all fit inside CV folds; the test set is used once.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46557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test F1 change with test size?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813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test sets give noisier estimates — we rely on CV mean ± std, not a single split.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439826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Random Forest win?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745736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feature interactions; handles mixed-scale CTG features without scaling.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533095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more data help?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678424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 still rising for some models — likely yes, especially for the rare classes.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Fetal Health Classification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1977</Words>
  <Application>Microsoft Office PowerPoint</Application>
  <PresentationFormat>Widescreen</PresentationFormat>
  <Paragraphs>214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Fetal Health Classification from CTG Data</dc:title>
  <dc:subject>PptxGenJS Presentation</dc:subject>
  <dc:creator>Group — Bakwowi-J &amp; Partner</dc:creator>
  <cp:lastModifiedBy>Bakwowi Junior</cp:lastModifiedBy>
  <cp:revision>2</cp:revision>
  <dcterms:created xsi:type="dcterms:W3CDTF">2026-06-29T14:19:47Z</dcterms:created>
  <dcterms:modified xsi:type="dcterms:W3CDTF">2026-07-04T19:15:23Z</dcterms:modified>
</cp:coreProperties>
</file>